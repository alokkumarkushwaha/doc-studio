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professors, and fellow colleagues. Today, I am proud to present 'DocStudio', a modern cloud-engineered web platform designed to revolutionize how documents and PDFs are manipulated, edited, and formatted, with specialized solutions for government exam aspirants, students, and professionals.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outline the exact problems that inspired DocStudio. Millions of students and job applicants face rejection simply because their uploaded photo or signature exceeded 50KB or 20KB, or got distorted. Commercial solutions are paywalled, and free alternatives risk user privacy. DocStudio solves this comprehensively.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DocStudio is engineered around three pillars: First, specialized intelligence for Indian and global exam forms. Second, true WYSIWYG page-level editing without needing Adobe Acrobat. And third, an expansive suite of 30+ utilities that run at high speed without forcing users into subscriptions.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modular, three-tier architecture of DocStudio. In the client layer, PDF.js renders vectors directly in the browser canvas. The FastAPI layer streams data asynchronously without disk bottlenecks. The processing engine utilizes PyMuPDF and Pillow for surgical stream transformations and iterative compression.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standout innovations of our project. No existing free PDF editor allows users to type 'Passport photo 3.5x4.5 cm under 50kb' and automatically lock the aspect ratio while applying iterative stepped compression in the backend to ensure the file is strictly below 50KB or 20KB for government portals.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core innovation is the full-featured PDF Editor. We solved a critical limitation of existing tools: allowing users to dynamically insert fresh blank pages inside an existing PDF, write text on them with proper Base-14 font mapping, and delete unwanted pages with real-time PyMuPDF stream re-compilation.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DocStudio is not a single-purpose tool; it is a full productivity ecosystem. It includes document assembly, military-grade AES-256 encryption, multi-format converters for Word, Excel, and Images, and an interactive Presentation Studio for creating native PowerPoint slide decks.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implementation matrix. We chose FastAPI for its asynchronous capabilities and PyMuPDF for its unparalleled speed over traditional Python PDF libraries like PyPDF2. On the frontend, we maintained lightweight performance using Vanilla JavaScript and Tailwind CSS without heavy React or Angular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purely academic projects that only exist on localhost, DocStudio is deployed live in production on Render with automated GitHub workflows, verified on Google Search Console, and operating with exceptional sub-second execution speed across desktop and mobile devices.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DocStudio successfully bridges the gap between complex document engineering and everyday accessibility. Our roadmap includes multilingual OCR and real-time collaboration. Thank you so much for your time and guidance. I am now open to any questions and feedback from the evaluators.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1097280"/>
            <a:ext cx="2926080" cy="329184"/>
          </a:xfrm>
          <a:prstGeom prst="round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defRPr>
            </a:pPr>
            <a:r>
              <a:t>🎓 MAJOR PROJECT PRESENTATION</a:t>
            </a:r>
          </a:p>
        </p:txBody>
      </p:sp>
      <p:sp>
        <p:nvSpPr>
          <p:cNvPr id="4" name="TextBox 3"/>
          <p:cNvSpPr txBox="1"/>
          <p:nvPr/>
        </p:nvSpPr>
        <p:spPr>
          <a:xfrm>
            <a:off x="777240" y="1554480"/>
            <a:ext cx="10515600" cy="1280160"/>
          </a:xfrm>
          <a:prstGeom prst="rect">
            <a:avLst/>
          </a:prstGeom>
          <a:noFill/>
        </p:spPr>
        <p:txBody>
          <a:bodyPr wrap="square">
            <a:spAutoFit/>
          </a:bodyPr>
          <a:lstStyle/>
          <a:p>
            <a:pPr>
              <a:defRPr sz="5600" b="1">
                <a:solidFill>
                  <a:srgbClr val="FFFFFF"/>
                </a:solidFill>
                <a:latin typeface="Segoe UI"/>
              </a:defRPr>
            </a:pPr>
            <a:r>
              <a:t>DocStudio</a:t>
            </a:r>
          </a:p>
        </p:txBody>
      </p:sp>
      <p:sp>
        <p:nvSpPr>
          <p:cNvPr id="5" name="TextBox 4"/>
          <p:cNvSpPr txBox="1"/>
          <p:nvPr/>
        </p:nvSpPr>
        <p:spPr>
          <a:xfrm>
            <a:off x="822960" y="2834640"/>
            <a:ext cx="10515600" cy="822960"/>
          </a:xfrm>
          <a:prstGeom prst="rect">
            <a:avLst/>
          </a:prstGeom>
          <a:noFill/>
        </p:spPr>
        <p:txBody>
          <a:bodyPr wrap="square">
            <a:spAutoFit/>
          </a:bodyPr>
          <a:lstStyle/>
          <a:p>
            <a:pPr>
              <a:defRPr sz="1900">
                <a:solidFill>
                  <a:srgbClr val="CBD5E1"/>
                </a:solidFill>
                <a:latin typeface="Segoe UI"/>
              </a:defRPr>
            </a:pPr>
            <a:r>
              <a:t>All-in-One Cloud-Powered Web Suite for PDF Engineering, Govt Exam Document Resizing &amp; Interactive Presentation Studio</a:t>
            </a:r>
          </a:p>
        </p:txBody>
      </p:sp>
      <p:sp>
        <p:nvSpPr>
          <p:cNvPr id="6" name="Rounded Rectangle 5"/>
          <p:cNvSpPr/>
          <p:nvPr/>
        </p:nvSpPr>
        <p:spPr>
          <a:xfrm>
            <a:off x="822960" y="3931920"/>
            <a:ext cx="105156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Presenter: Alok Kumar Kushwaha  |  Department of Computer Science &amp; Engineering</a:t>
            </a:r>
          </a:p>
          <a:p>
            <a:pPr>
              <a:defRPr sz="1300">
                <a:solidFill>
                  <a:srgbClr val="94A3B8"/>
                </a:solidFill>
              </a:defRPr>
            </a:pPr>
            <a:r>
              <a:t>Core Tech Stack: Python (FastAPI), PyMuPDF (Fitz), Pillow, ReportLab, Vanilla JS, Tailwind CSS, PDF.js</a:t>
            </a:r>
          </a:p>
          <a:p>
            <a:pPr>
              <a:defRPr sz="1300" b="1">
                <a:solidFill>
                  <a:srgbClr val="10B981"/>
                </a:solidFill>
              </a:defRPr>
            </a:pPr>
            <a:r>
              <a:t>Live Deployment: https://docstudio-dty3.onrender.com  |  CI/CD: GitHub + Render Cloud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10B981"/>
                </a:solidFill>
                <a:latin typeface="Segoe UI"/>
              </a:defRPr>
            </a:pPr>
            <a:r>
              <a:t>01. CONTEXT &amp; MOTIVATION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600" b="1">
                <a:solidFill>
                  <a:srgbClr val="0F172A"/>
                </a:solidFill>
                <a:latin typeface="Segoe UI"/>
              </a:defRPr>
            </a:pPr>
            <a:r>
              <a:t>Problem Statement &amp; Industry Gap</a:t>
            </a:r>
          </a:p>
        </p:txBody>
      </p:sp>
      <p:sp>
        <p:nvSpPr>
          <p:cNvPr id="5" name="TextBox 4"/>
          <p:cNvSpPr txBox="1"/>
          <p:nvPr/>
        </p:nvSpPr>
        <p:spPr>
          <a:xfrm>
            <a:off x="731520" y="6400800"/>
            <a:ext cx="10698480" cy="320040"/>
          </a:xfrm>
          <a:prstGeom prst="rect">
            <a:avLst/>
          </a:prstGeom>
          <a:noFill/>
        </p:spPr>
        <p:txBody>
          <a:bodyPr wrap="none">
            <a:spAutoFit/>
          </a:bodyPr>
          <a:lstStyle/>
          <a:p>
            <a:pPr>
              <a:defRPr sz="1000">
                <a:solidFill>
                  <a:srgbClr val="64748B"/>
                </a:solidFill>
                <a:latin typeface="Segoe UI"/>
              </a:defRPr>
            </a:pPr>
            <a:r>
              <a:t>DocStudio • Cloud-Powered PDF &amp; Document Engineering Suite • College Presentation</a:t>
            </a:r>
          </a:p>
        </p:txBody>
      </p:sp>
      <p:sp>
        <p:nvSpPr>
          <p:cNvPr id="6" name="Rounded Rectangle 5"/>
          <p:cNvSpPr/>
          <p:nvPr/>
        </p:nvSpPr>
        <p:spPr>
          <a:xfrm>
            <a:off x="731520" y="1645920"/>
            <a:ext cx="347472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0F172A"/>
                </a:solidFill>
              </a:defRPr>
            </a:pPr>
            <a:r>
              <a:t>💸 Heavy Paywalls &amp; Usage Caps</a:t>
            </a:r>
          </a:p>
          <a:p>
            <a:br/>
            <a:pPr>
              <a:defRPr sz="1300">
                <a:solidFill>
                  <a:srgbClr val="475569"/>
                </a:solidFill>
              </a:defRPr>
            </a:pPr>
            <a:r>
              <a:t>Most market leaders (Adobe Acrobat, Sejda, SmallPDF) restrict basic tasks to 2-3 files per day and require expensive subscriptions ($15-$25/month), rendering them inaccessible to students and rural aspirants.</a:t>
            </a:r>
          </a:p>
        </p:txBody>
      </p:sp>
      <p:sp>
        <p:nvSpPr>
          <p:cNvPr id="7" name="Rounded Rectangle 6"/>
          <p:cNvSpPr/>
          <p:nvPr/>
        </p:nvSpPr>
        <p:spPr>
          <a:xfrm>
            <a:off x="731520" y="1645920"/>
            <a:ext cx="3474720" cy="13716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43400" y="1645920"/>
            <a:ext cx="347472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0F172A"/>
                </a:solidFill>
              </a:defRPr>
            </a:pPr>
            <a:r>
              <a:t>🏛️ Strict Govt Exam Guidelines</a:t>
            </a:r>
          </a:p>
          <a:p>
            <a:br/>
            <a:pPr>
              <a:defRPr sz="1300">
                <a:solidFill>
                  <a:srgbClr val="475569"/>
                </a:solidFill>
              </a:defRPr>
            </a:pPr>
            <a:r>
              <a:t>Major examination portals (UPSC, SSC, IBPS, State PSC, NTA) enforce exact dimensions (e.g. 3.5×4.5 cm photo, 4×2 cm signature) and strict file size limits (&lt; 50KB / &lt; 20KB). Candidates face repeated rejections due to blurriness or incorrect aspect ratios.</a:t>
            </a:r>
          </a:p>
        </p:txBody>
      </p:sp>
      <p:sp>
        <p:nvSpPr>
          <p:cNvPr id="9" name="Rounded Rectangle 8"/>
          <p:cNvSpPr/>
          <p:nvPr/>
        </p:nvSpPr>
        <p:spPr>
          <a:xfrm>
            <a:off x="4343400" y="1645920"/>
            <a:ext cx="3474720" cy="1371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955280" y="1645920"/>
            <a:ext cx="347472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0F172A"/>
                </a:solidFill>
              </a:defRPr>
            </a:pPr>
            <a:r>
              <a:t>🔒 Privacy &amp; Tool Fragmentation</a:t>
            </a:r>
          </a:p>
          <a:p>
            <a:br/>
            <a:pPr>
              <a:defRPr sz="1300">
                <a:solidFill>
                  <a:srgbClr val="475569"/>
                </a:solidFill>
              </a:defRPr>
            </a:pPr>
            <a:r>
              <a:t>Users have to bounce between 4-5 different untrusted sites to crop, compress, convert, and sign files, creating data privacy hazards when uploading confidential Aadhaar, PAN, and academic marksheets.</a:t>
            </a:r>
          </a:p>
        </p:txBody>
      </p:sp>
      <p:sp>
        <p:nvSpPr>
          <p:cNvPr id="11" name="Rounded Rectangle 10"/>
          <p:cNvSpPr/>
          <p:nvPr/>
        </p:nvSpPr>
        <p:spPr>
          <a:xfrm>
            <a:off x="7955280" y="1645920"/>
            <a:ext cx="3474720" cy="1371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10B981"/>
                </a:solidFill>
                <a:latin typeface="Segoe UI"/>
              </a:defRPr>
            </a:pPr>
            <a:r>
              <a:t>02. STRATEGIC OVERVIEW</a:t>
            </a:r>
          </a:p>
        </p:txBody>
      </p:sp>
      <p:sp>
        <p:nvSpPr>
          <p:cNvPr id="4" name="TextBox 3"/>
          <p:cNvSpPr txBox="1"/>
          <p:nvPr/>
        </p:nvSpPr>
        <p:spPr>
          <a:xfrm>
            <a:off x="731520" y="640080"/>
            <a:ext cx="10515600" cy="640080"/>
          </a:xfrm>
          <a:prstGeom prst="rect">
            <a:avLst/>
          </a:prstGeom>
          <a:noFill/>
        </p:spPr>
        <p:txBody>
          <a:bodyPr wrap="square">
            <a:spAutoFit/>
          </a:bodyPr>
          <a:lstStyle/>
          <a:p>
            <a:pPr>
              <a:defRPr sz="2600" b="1">
                <a:solidFill>
                  <a:srgbClr val="0F172A"/>
                </a:solidFill>
                <a:latin typeface="Segoe UI"/>
              </a:defRPr>
            </a:pPr>
            <a:r>
              <a:t>Proposed Solution: The DocStudio Ecosystem</a:t>
            </a:r>
          </a:p>
        </p:txBody>
      </p:sp>
      <p:sp>
        <p:nvSpPr>
          <p:cNvPr id="5" name="TextBox 4"/>
          <p:cNvSpPr txBox="1"/>
          <p:nvPr/>
        </p:nvSpPr>
        <p:spPr>
          <a:xfrm>
            <a:off x="731520" y="6400800"/>
            <a:ext cx="10698480" cy="320040"/>
          </a:xfrm>
          <a:prstGeom prst="rect">
            <a:avLst/>
          </a:prstGeom>
          <a:noFill/>
        </p:spPr>
        <p:txBody>
          <a:bodyPr wrap="none">
            <a:spAutoFit/>
          </a:bodyPr>
          <a:lstStyle/>
          <a:p>
            <a:pPr>
              <a:defRPr sz="1000">
                <a:solidFill>
                  <a:srgbClr val="64748B"/>
                </a:solidFill>
                <a:latin typeface="Segoe UI"/>
              </a:defRPr>
            </a:pPr>
            <a:r>
              <a:t>DocStudio • Cloud-Powered PDF &amp; Document Engineering Suite • College Presentation</a:t>
            </a:r>
          </a:p>
        </p:txBody>
      </p:sp>
      <p:sp>
        <p:nvSpPr>
          <p:cNvPr id="6" name="Rounded Rectangle 5"/>
          <p:cNvSpPr/>
          <p:nvPr/>
        </p:nvSpPr>
        <p:spPr>
          <a:xfrm>
            <a:off x="731520" y="1645920"/>
            <a:ext cx="5120640" cy="4389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0B981"/>
                </a:solidFill>
              </a:defRPr>
            </a:pPr>
            <a:r>
              <a:t>🎯 Core Project Mission</a:t>
            </a:r>
          </a:p>
          <a:p>
            <a:br/>
            <a:pPr>
              <a:defRPr sz="1400">
                <a:solidFill>
                  <a:srgbClr val="E2E8F0"/>
                </a:solidFill>
              </a:defRPr>
            </a:pPr>
            <a:r>
              <a:t>To engineer a secure, highly optimized, 100% accessible document studio that combines professional PDF editing, AI-prompted document resizing, and PowerPoint synthesis into a single, zero-friction browser experience.</a:t>
            </a:r>
          </a:p>
          <a:p>
            <a:br/>
            <a:pPr>
              <a:defRPr sz="1300">
                <a:solidFill>
                  <a:srgbClr val="94A3B8"/>
                </a:solidFill>
              </a:defRPr>
            </a:pPr>
            <a:r>
              <a:t>✨ Key Architectural Pillars:</a:t>
            </a:r>
            <a:br/>
            <a:r>
              <a:t>• High-Performance Async Python Core (FastAPI)</a:t>
            </a:r>
            <a:br/>
            <a:r>
              <a:t>• Client-First Rendering with PDF.js Canvas</a:t>
            </a:r>
            <a:br/>
            <a:r>
              <a:t>• Deterministic Iterative Compression Algorithms</a:t>
            </a:r>
            <a:br/>
            <a:r>
              <a:t>• Zero-Wall Guest Mode + Optional SQLite Auth</a:t>
            </a:r>
          </a:p>
        </p:txBody>
      </p:sp>
      <p:sp>
        <p:nvSpPr>
          <p:cNvPr id="7" name="Rounded Rectangle 6"/>
          <p:cNvSpPr/>
          <p:nvPr/>
        </p:nvSpPr>
        <p:spPr>
          <a:xfrm>
            <a:off x="6126480" y="1645920"/>
            <a:ext cx="530352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1. Intelligent Exam Form Cropper</a:t>
            </a:r>
          </a:p>
          <a:p>
            <a:pPr>
              <a:defRPr sz="1200">
                <a:solidFill>
                  <a:srgbClr val="64748B"/>
                </a:solidFill>
              </a:defRPr>
            </a:pPr>
            <a:r>
              <a:t>Natural language parsing + 1-click presets guaranteeing exact physical cm dimensions and &lt;= KB file size limits.</a:t>
            </a:r>
          </a:p>
        </p:txBody>
      </p:sp>
      <p:sp>
        <p:nvSpPr>
          <p:cNvPr id="8" name="Rounded Rectangle 7"/>
          <p:cNvSpPr/>
          <p:nvPr/>
        </p:nvSpPr>
        <p:spPr>
          <a:xfrm>
            <a:off x="6126480" y="3154680"/>
            <a:ext cx="530352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2. Full In-Browser PDF Editor</a:t>
            </a:r>
          </a:p>
          <a:p>
            <a:pPr>
              <a:defRPr sz="1200">
                <a:solidFill>
                  <a:srgbClr val="64748B"/>
                </a:solidFill>
              </a:defRPr>
            </a:pPr>
            <a:r>
              <a:t>Insert blank pages at runtime, delete pages, add text with font mapping, freehand draw, and place digital signatures.</a:t>
            </a:r>
          </a:p>
        </p:txBody>
      </p:sp>
      <p:sp>
        <p:nvSpPr>
          <p:cNvPr id="9" name="Rounded Rectangle 8"/>
          <p:cNvSpPr/>
          <p:nvPr/>
        </p:nvSpPr>
        <p:spPr>
          <a:xfrm>
            <a:off x="6126480" y="4663440"/>
            <a:ext cx="530352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3. 30+ Enterprise PDF &amp; PPT Utilities</a:t>
            </a:r>
          </a:p>
          <a:p>
            <a:pPr>
              <a:defRPr sz="1200">
                <a:solidFill>
                  <a:srgbClr val="64748B"/>
                </a:solidFill>
              </a:defRPr>
            </a:pPr>
            <a:r>
              <a:t>Client-side preview coupled with server-side AES-256 encryption, split, merge, conversions, and AI presentation generator.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10B981"/>
                </a:solidFill>
                <a:latin typeface="Segoe UI"/>
              </a:defRPr>
            </a:pPr>
            <a:r>
              <a:t>03. ENGINEERING ARCHITECTURE</a:t>
            </a:r>
          </a:p>
        </p:txBody>
      </p:sp>
      <p:sp>
        <p:nvSpPr>
          <p:cNvPr id="4" name="TextBox 3"/>
          <p:cNvSpPr txBox="1"/>
          <p:nvPr/>
        </p:nvSpPr>
        <p:spPr>
          <a:xfrm>
            <a:off x="731520" y="640080"/>
            <a:ext cx="10515600" cy="640080"/>
          </a:xfrm>
          <a:prstGeom prst="rect">
            <a:avLst/>
          </a:prstGeom>
          <a:noFill/>
        </p:spPr>
        <p:txBody>
          <a:bodyPr wrap="square">
            <a:spAutoFit/>
          </a:bodyPr>
          <a:lstStyle/>
          <a:p>
            <a:pPr>
              <a:defRPr sz="2600" b="1">
                <a:solidFill>
                  <a:srgbClr val="0F172A"/>
                </a:solidFill>
                <a:latin typeface="Segoe UI"/>
              </a:defRPr>
            </a:pPr>
            <a:r>
              <a:t>System Architecture &amp; End-to-End Data Pipeline</a:t>
            </a:r>
          </a:p>
        </p:txBody>
      </p:sp>
      <p:sp>
        <p:nvSpPr>
          <p:cNvPr id="5" name="TextBox 4"/>
          <p:cNvSpPr txBox="1"/>
          <p:nvPr/>
        </p:nvSpPr>
        <p:spPr>
          <a:xfrm>
            <a:off x="731520" y="6400800"/>
            <a:ext cx="10698480" cy="320040"/>
          </a:xfrm>
          <a:prstGeom prst="rect">
            <a:avLst/>
          </a:prstGeom>
          <a:noFill/>
        </p:spPr>
        <p:txBody>
          <a:bodyPr wrap="none">
            <a:spAutoFit/>
          </a:bodyPr>
          <a:lstStyle/>
          <a:p>
            <a:pPr>
              <a:defRPr sz="1000">
                <a:solidFill>
                  <a:srgbClr val="64748B"/>
                </a:solidFill>
                <a:latin typeface="Segoe UI"/>
              </a:defRPr>
            </a:pPr>
            <a:r>
              <a:t>DocStudio • Cloud-Powered PDF &amp; Document Engineering Suite • College Presentation</a:t>
            </a:r>
          </a:p>
        </p:txBody>
      </p:sp>
      <p:sp>
        <p:nvSpPr>
          <p:cNvPr id="6" name="Rounded Rectangle 5"/>
          <p:cNvSpPr/>
          <p:nvPr/>
        </p:nvSpPr>
        <p:spPr>
          <a:xfrm>
            <a:off x="731520" y="1645920"/>
            <a:ext cx="1069848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1. Presentation Layer (Client UI)</a:t>
            </a:r>
          </a:p>
          <a:p>
            <a:pPr>
              <a:defRPr sz="1150">
                <a:solidFill>
                  <a:srgbClr val="64748B"/>
                </a:solidFill>
              </a:defRPr>
            </a:pPr>
            <a:r>
              <a:t>• Responsive Web Interface built with Tailwind CSS &amp; Lucide Icons</a:t>
            </a:r>
            <a:br/>
            <a:r>
              <a:t>• Client-side PDF rendering using Mozilla's PDF.js</a:t>
            </a:r>
            <a:br/>
            <a:r>
              <a:t>• Interactive Canvas Stage with 8-handle transformation matrices</a:t>
            </a:r>
            <a:br/>
            <a:r>
              <a:t>• Aspect Ratio Constraint Logic &amp; Real-time Unit Conversions (cm/mm/in)</a:t>
            </a:r>
          </a:p>
        </p:txBody>
      </p:sp>
      <p:sp>
        <p:nvSpPr>
          <p:cNvPr id="7" name="Rounded Rectangle 6"/>
          <p:cNvSpPr/>
          <p:nvPr/>
        </p:nvSpPr>
        <p:spPr>
          <a:xfrm>
            <a:off x="731520" y="1645920"/>
            <a:ext cx="182880" cy="132588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154680"/>
            <a:ext cx="1069848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2. Application API Layer (FastAPI)</a:t>
            </a:r>
          </a:p>
          <a:p>
            <a:pPr>
              <a:defRPr sz="1150">
                <a:solidFill>
                  <a:srgbClr val="64748B"/>
                </a:solidFill>
              </a:defRPr>
            </a:pPr>
            <a:r>
              <a:t>• Asynchronous ASGI Event Loop via Uvicorn Server</a:t>
            </a:r>
            <a:br/>
            <a:r>
              <a:t>• High-throughput multipart upload streaming directly into memory</a:t>
            </a:r>
            <a:br/>
            <a:r>
              <a:t>• RESTful Tool Endpoints with strict Pydantic payload validation</a:t>
            </a:r>
            <a:br/>
            <a:r>
              <a:t>• Session Token Authentication &amp; History Tracking with SQLite3</a:t>
            </a:r>
          </a:p>
        </p:txBody>
      </p:sp>
      <p:sp>
        <p:nvSpPr>
          <p:cNvPr id="9" name="Rounded Rectangle 8"/>
          <p:cNvSpPr/>
          <p:nvPr/>
        </p:nvSpPr>
        <p:spPr>
          <a:xfrm>
            <a:off x="731520" y="3154680"/>
            <a:ext cx="182880" cy="13258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663440"/>
            <a:ext cx="10698480"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3. Document Engineering Engines</a:t>
            </a:r>
          </a:p>
          <a:p>
            <a:pPr>
              <a:defRPr sz="1150">
                <a:solidFill>
                  <a:srgbClr val="64748B"/>
                </a:solidFill>
              </a:defRPr>
            </a:pPr>
            <a:r>
              <a:t>• PyMuPDF (Fitz): Low-level vector clipping, page insertion &amp; fonts</a:t>
            </a:r>
            <a:br/>
            <a:r>
              <a:t>• Pillow (PIL): Iterative quality &amp; DPI downsampling feedback loop</a:t>
            </a:r>
            <a:br/>
            <a:r>
              <a:t>• ReportLab &amp; python-pptx: Dynamic generation of PDF and PPT decks</a:t>
            </a:r>
            <a:br/>
            <a:r>
              <a:t>• Deflate &amp; Garbage Collection stream compaction for zero-bloat files</a:t>
            </a:r>
          </a:p>
        </p:txBody>
      </p:sp>
      <p:sp>
        <p:nvSpPr>
          <p:cNvPr id="11" name="Rounded Rectangle 10"/>
          <p:cNvSpPr/>
          <p:nvPr/>
        </p:nvSpPr>
        <p:spPr>
          <a:xfrm>
            <a:off x="731520" y="4663440"/>
            <a:ext cx="182880" cy="132588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10B981"/>
                </a:solidFill>
                <a:latin typeface="Segoe UI"/>
              </a:defRPr>
            </a:pPr>
            <a:r>
              <a:t>04. KEY INNOVATION #1</a:t>
            </a:r>
          </a:p>
        </p:txBody>
      </p:sp>
      <p:sp>
        <p:nvSpPr>
          <p:cNvPr id="4" name="TextBox 3"/>
          <p:cNvSpPr txBox="1"/>
          <p:nvPr/>
        </p:nvSpPr>
        <p:spPr>
          <a:xfrm>
            <a:off x="731520" y="640080"/>
            <a:ext cx="10515600" cy="640080"/>
          </a:xfrm>
          <a:prstGeom prst="rect">
            <a:avLst/>
          </a:prstGeom>
          <a:noFill/>
        </p:spPr>
        <p:txBody>
          <a:bodyPr wrap="square">
            <a:spAutoFit/>
          </a:bodyPr>
          <a:lstStyle/>
          <a:p>
            <a:pPr>
              <a:defRPr sz="2600" b="1">
                <a:solidFill>
                  <a:srgbClr val="0F172A"/>
                </a:solidFill>
                <a:latin typeface="Segoe UI"/>
              </a:defRPr>
            </a:pPr>
            <a:r>
              <a:t>Govt Form &amp; Exam Document Resizer (Prompt &amp; KB Target)</a:t>
            </a:r>
          </a:p>
        </p:txBody>
      </p:sp>
      <p:sp>
        <p:nvSpPr>
          <p:cNvPr id="5" name="TextBox 4"/>
          <p:cNvSpPr txBox="1"/>
          <p:nvPr/>
        </p:nvSpPr>
        <p:spPr>
          <a:xfrm>
            <a:off x="731520" y="6400800"/>
            <a:ext cx="10698480" cy="320040"/>
          </a:xfrm>
          <a:prstGeom prst="rect">
            <a:avLst/>
          </a:prstGeom>
          <a:noFill/>
        </p:spPr>
        <p:txBody>
          <a:bodyPr wrap="none">
            <a:spAutoFit/>
          </a:bodyPr>
          <a:lstStyle/>
          <a:p>
            <a:pPr>
              <a:defRPr sz="1000">
                <a:solidFill>
                  <a:srgbClr val="64748B"/>
                </a:solidFill>
                <a:latin typeface="Segoe UI"/>
              </a:defRPr>
            </a:pPr>
            <a:r>
              <a:t>DocStudio • Cloud-Powered PDF &amp; Document Engineering Suite • College Presentation</a:t>
            </a:r>
          </a:p>
        </p:txBody>
      </p:sp>
      <p:sp>
        <p:nvSpPr>
          <p:cNvPr id="6" name="Rounded Rectangle 5"/>
          <p:cNvSpPr/>
          <p:nvPr/>
        </p:nvSpPr>
        <p:spPr>
          <a:xfrm>
            <a:off x="731520" y="1645920"/>
            <a:ext cx="525780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0F172A"/>
                </a:solidFill>
              </a:defRPr>
            </a:pPr>
            <a:r>
              <a:t>🤖 AI Natural Language Parser</a:t>
            </a:r>
          </a:p>
          <a:p>
            <a:pPr>
              <a:defRPr sz="1100">
                <a:solidFill>
                  <a:srgbClr val="64748B"/>
                </a:solidFill>
              </a:defRPr>
            </a:pPr>
            <a:r>
              <a:t>Users can type prompt requirements naturally:</a:t>
            </a:r>
            <a:br/>
            <a:r>
              <a:t>• 'passport photo 3.5x4.5 cm under 50kb'</a:t>
            </a:r>
            <a:br/>
            <a:r>
              <a:t>• 'SSC signature 4x2 cm max 20 kb'</a:t>
            </a:r>
            <a:br/>
            <a:r>
              <a:t>Regex parser automatically extracts width, height, unit (cm/mm/in/px), and target file size.</a:t>
            </a:r>
          </a:p>
        </p:txBody>
      </p:sp>
      <p:sp>
        <p:nvSpPr>
          <p:cNvPr id="7" name="Rounded Rectangle 6"/>
          <p:cNvSpPr/>
          <p:nvPr/>
        </p:nvSpPr>
        <p:spPr>
          <a:xfrm>
            <a:off x="731520" y="1645920"/>
            <a:ext cx="5257800" cy="10972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2200" y="1645920"/>
            <a:ext cx="525780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0F172A"/>
                </a:solidFill>
              </a:defRPr>
            </a:pPr>
            <a:r>
              <a:t>⚡ 1-Click Standard Presets</a:t>
            </a:r>
          </a:p>
          <a:p>
            <a:pPr>
              <a:defRPr sz="1100">
                <a:solidFill>
                  <a:srgbClr val="64748B"/>
                </a:solidFill>
              </a:defRPr>
            </a:pPr>
            <a:r>
              <a:t>Pre-programmed standard dimensions used across 95% of recruitment portals:</a:t>
            </a:r>
            <a:br/>
            <a:r>
              <a:t>• Passport Photo: 3.5 × 4.5 cm (&lt; 50 KB)</a:t>
            </a:r>
            <a:br/>
            <a:r>
              <a:t>• Official Signature: 4.0 × 2.0 cm (&lt; 20 KB)</a:t>
            </a:r>
            <a:br/>
            <a:r>
              <a:t>• ID / PAN / Aadhaar Card: 8.5 × 5.5 cm (&lt; 100 KB)</a:t>
            </a:r>
            <a:br/>
            <a:r>
              <a:t>• Marksheet / Certificate: Full A4 (&lt; 200 KB)</a:t>
            </a:r>
          </a:p>
        </p:txBody>
      </p:sp>
      <p:sp>
        <p:nvSpPr>
          <p:cNvPr id="9" name="Rounded Rectangle 8"/>
          <p:cNvSpPr/>
          <p:nvPr/>
        </p:nvSpPr>
        <p:spPr>
          <a:xfrm>
            <a:off x="6172200" y="1645920"/>
            <a:ext cx="5257800" cy="10972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886200"/>
            <a:ext cx="525780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0F172A"/>
                </a:solidFill>
              </a:defRPr>
            </a:pPr>
            <a:r>
              <a:t>🔒 Live Proportional Aspect Lock</a:t>
            </a:r>
          </a:p>
          <a:p>
            <a:pPr>
              <a:defRPr sz="1100">
                <a:solidFill>
                  <a:srgbClr val="64748B"/>
                </a:solidFill>
              </a:defRPr>
            </a:pPr>
            <a:r>
              <a:t>Prevents facial distortion and signature warping:</a:t>
            </a:r>
            <a:br/>
            <a:r>
              <a:t>• Real-time canvas constraint keeps aspect ratio intact</a:t>
            </a:r>
            <a:br/>
            <a:r>
              <a:t>• Scaling corner handles maintains exact 3.5:4.5 or 4:2 ratio</a:t>
            </a:r>
            <a:br/>
            <a:r>
              <a:t>• User visually frames their photo without guessing coordinates</a:t>
            </a:r>
          </a:p>
        </p:txBody>
      </p:sp>
      <p:sp>
        <p:nvSpPr>
          <p:cNvPr id="11" name="Rounded Rectangle 10"/>
          <p:cNvSpPr/>
          <p:nvPr/>
        </p:nvSpPr>
        <p:spPr>
          <a:xfrm>
            <a:off x="731520" y="3886200"/>
            <a:ext cx="5257800" cy="10972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3886200"/>
            <a:ext cx="525780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0F172A"/>
                </a:solidFill>
              </a:defRPr>
            </a:pPr>
            <a:r>
              <a:t>🗜️ Stepped KB Compression Loop</a:t>
            </a:r>
          </a:p>
          <a:p>
            <a:pPr>
              <a:defRPr sz="1100">
                <a:solidFill>
                  <a:srgbClr val="64748B"/>
                </a:solidFill>
              </a:defRPr>
            </a:pPr>
            <a:r>
              <a:t>Guarantees output is strictly under target KB limit:</a:t>
            </a:r>
            <a:br/>
            <a:r>
              <a:t>• Evaluates initial clipped PDF stream size</a:t>
            </a:r>
            <a:br/>
            <a:r>
              <a:t>• If size &gt; target, triggers iterative resolution &amp; JPEG quality decay steps (200 DPI -&gt; 72 DPI, Q85 -&gt; Q35)</a:t>
            </a:r>
            <a:br/>
            <a:r>
              <a:t>• 100% portal acceptance rate without blurriness</a:t>
            </a:r>
          </a:p>
        </p:txBody>
      </p:sp>
      <p:sp>
        <p:nvSpPr>
          <p:cNvPr id="13" name="Rounded Rectangle 12"/>
          <p:cNvSpPr/>
          <p:nvPr/>
        </p:nvSpPr>
        <p:spPr>
          <a:xfrm>
            <a:off x="6172200" y="3886200"/>
            <a:ext cx="5257800" cy="10972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10B981"/>
                </a:solidFill>
                <a:latin typeface="Segoe UI"/>
              </a:defRPr>
            </a:pPr>
            <a:r>
              <a:t>05. KEY INNOVATION #2</a:t>
            </a:r>
          </a:p>
        </p:txBody>
      </p:sp>
      <p:sp>
        <p:nvSpPr>
          <p:cNvPr id="4" name="TextBox 3"/>
          <p:cNvSpPr txBox="1"/>
          <p:nvPr/>
        </p:nvSpPr>
        <p:spPr>
          <a:xfrm>
            <a:off x="731520" y="640080"/>
            <a:ext cx="10515600" cy="640080"/>
          </a:xfrm>
          <a:prstGeom prst="rect">
            <a:avLst/>
          </a:prstGeom>
          <a:noFill/>
        </p:spPr>
        <p:txBody>
          <a:bodyPr wrap="square">
            <a:spAutoFit/>
          </a:bodyPr>
          <a:lstStyle/>
          <a:p>
            <a:pPr>
              <a:defRPr sz="2600" b="1">
                <a:solidFill>
                  <a:srgbClr val="0F172A"/>
                </a:solidFill>
                <a:latin typeface="Segoe UI"/>
              </a:defRPr>
            </a:pPr>
            <a:r>
              <a:t>Interactive Online PDF Editor &amp; Dynamic Page Insertion</a:t>
            </a:r>
          </a:p>
        </p:txBody>
      </p:sp>
      <p:sp>
        <p:nvSpPr>
          <p:cNvPr id="5" name="TextBox 4"/>
          <p:cNvSpPr txBox="1"/>
          <p:nvPr/>
        </p:nvSpPr>
        <p:spPr>
          <a:xfrm>
            <a:off x="731520" y="6400800"/>
            <a:ext cx="10698480" cy="320040"/>
          </a:xfrm>
          <a:prstGeom prst="rect">
            <a:avLst/>
          </a:prstGeom>
          <a:noFill/>
        </p:spPr>
        <p:txBody>
          <a:bodyPr wrap="none">
            <a:spAutoFit/>
          </a:bodyPr>
          <a:lstStyle/>
          <a:p>
            <a:pPr>
              <a:defRPr sz="1000">
                <a:solidFill>
                  <a:srgbClr val="64748B"/>
                </a:solidFill>
                <a:latin typeface="Segoe UI"/>
              </a:defRPr>
            </a:pPr>
            <a:r>
              <a:t>DocStudio • Cloud-Powered PDF &amp; Document Engineering Suite • College Presentation</a:t>
            </a:r>
          </a:p>
        </p:txBody>
      </p:sp>
      <p:sp>
        <p:nvSpPr>
          <p:cNvPr id="6" name="Rounded Rectangle 5"/>
          <p:cNvSpPr/>
          <p:nvPr/>
        </p:nvSpPr>
        <p:spPr>
          <a:xfrm>
            <a:off x="731520" y="1645920"/>
            <a:ext cx="106984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F46E5"/>
                </a:solidFill>
              </a:defRPr>
            </a:pPr>
            <a:r>
              <a:t>📄 Dynamic Page Insertion ('+ Insert page here')</a:t>
            </a:r>
          </a:p>
          <a:p>
            <a:pPr>
              <a:defRPr sz="1150">
                <a:solidFill>
                  <a:srgbClr val="64748B"/>
                </a:solidFill>
              </a:defRPr>
            </a:pPr>
            <a:r>
              <a:t>Unlike rigid viewers that only allow editing pre-existing pages, DocStudio dynamically creates clean, blank canvas pages anywhere in the document stream, recalculating page indices and manifests on the fly.</a:t>
            </a:r>
          </a:p>
        </p:txBody>
      </p:sp>
      <p:sp>
        <p:nvSpPr>
          <p:cNvPr id="7" name="Rounded Rectangle 6"/>
          <p:cNvSpPr/>
          <p:nvPr/>
        </p:nvSpPr>
        <p:spPr>
          <a:xfrm>
            <a:off x="731520" y="2788920"/>
            <a:ext cx="106984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F46E5"/>
                </a:solidFill>
              </a:defRPr>
            </a:pPr>
            <a:r>
              <a:t>🗑️ Interactive Page Management &amp; Deletion</a:t>
            </a:r>
          </a:p>
          <a:p>
            <a:pPr>
              <a:defRPr sz="1150">
                <a:solidFill>
                  <a:srgbClr val="64748B"/>
                </a:solidFill>
              </a:defRPr>
            </a:pPr>
            <a:r>
              <a:t>Users can remove unwanted pages directly from the live preview bar with real-time UI synchronization and zero document corruption.</a:t>
            </a:r>
          </a:p>
        </p:txBody>
      </p:sp>
      <p:sp>
        <p:nvSpPr>
          <p:cNvPr id="8" name="Rounded Rectangle 7"/>
          <p:cNvSpPr/>
          <p:nvPr/>
        </p:nvSpPr>
        <p:spPr>
          <a:xfrm>
            <a:off x="731520" y="3931920"/>
            <a:ext cx="106984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F46E5"/>
                </a:solidFill>
              </a:defRPr>
            </a:pPr>
            <a:r>
              <a:t>✏️ Low-Level Text Injection &amp; Base-14 Font Mapping</a:t>
            </a:r>
          </a:p>
          <a:p>
            <a:pPr>
              <a:defRPr sz="1150">
                <a:solidFill>
                  <a:srgbClr val="64748B"/>
                </a:solidFill>
              </a:defRPr>
            </a:pPr>
            <a:r>
              <a:t>Overcomes PyMuPDF buffer exceptions by mapping custom fonts to valid PostScript Base-14 font tables (helv, times-roman, courier), inserting searchable text boxes with custom sizes and colors.</a:t>
            </a:r>
          </a:p>
        </p:txBody>
      </p:sp>
      <p:sp>
        <p:nvSpPr>
          <p:cNvPr id="9" name="Rounded Rectangle 8"/>
          <p:cNvSpPr/>
          <p:nvPr/>
        </p:nvSpPr>
        <p:spPr>
          <a:xfrm>
            <a:off x="731520" y="5074920"/>
            <a:ext cx="106984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F46E5"/>
                </a:solidFill>
              </a:defRPr>
            </a:pPr>
            <a:r>
              <a:t>✍️ Freehand Drawing, Digital Signing &amp; Images</a:t>
            </a:r>
          </a:p>
          <a:p>
            <a:pPr>
              <a:defRPr sz="1150">
                <a:solidFill>
                  <a:srgbClr val="64748B"/>
                </a:solidFill>
              </a:defRPr>
            </a:pPr>
            <a:r>
              <a:t>HTML5 Canvas capture enables users to place digital signatures, stamps, and high-resolution images with seamless stream flattening during final export.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10B981"/>
                </a:solidFill>
                <a:latin typeface="Segoe UI"/>
              </a:defRPr>
            </a:pPr>
            <a:r>
              <a:t>06. FEATURE LANDSCAPE</a:t>
            </a:r>
          </a:p>
        </p:txBody>
      </p:sp>
      <p:sp>
        <p:nvSpPr>
          <p:cNvPr id="4" name="TextBox 3"/>
          <p:cNvSpPr txBox="1"/>
          <p:nvPr/>
        </p:nvSpPr>
        <p:spPr>
          <a:xfrm>
            <a:off x="731520" y="640080"/>
            <a:ext cx="10515600" cy="640080"/>
          </a:xfrm>
          <a:prstGeom prst="rect">
            <a:avLst/>
          </a:prstGeom>
          <a:noFill/>
        </p:spPr>
        <p:txBody>
          <a:bodyPr wrap="square">
            <a:spAutoFit/>
          </a:bodyPr>
          <a:lstStyle/>
          <a:p>
            <a:pPr>
              <a:defRPr sz="2600" b="1">
                <a:solidFill>
                  <a:srgbClr val="0F172A"/>
                </a:solidFill>
                <a:latin typeface="Segoe UI"/>
              </a:defRPr>
            </a:pPr>
            <a:r>
              <a:t>Comprehensive Suite: 30+ PDF &amp; PPT Utilities</a:t>
            </a:r>
          </a:p>
        </p:txBody>
      </p:sp>
      <p:sp>
        <p:nvSpPr>
          <p:cNvPr id="5" name="TextBox 4"/>
          <p:cNvSpPr txBox="1"/>
          <p:nvPr/>
        </p:nvSpPr>
        <p:spPr>
          <a:xfrm>
            <a:off x="731520" y="6400800"/>
            <a:ext cx="10698480" cy="320040"/>
          </a:xfrm>
          <a:prstGeom prst="rect">
            <a:avLst/>
          </a:prstGeom>
          <a:noFill/>
        </p:spPr>
        <p:txBody>
          <a:bodyPr wrap="none">
            <a:spAutoFit/>
          </a:bodyPr>
          <a:lstStyle/>
          <a:p>
            <a:pPr>
              <a:defRPr sz="1000">
                <a:solidFill>
                  <a:srgbClr val="64748B"/>
                </a:solidFill>
                <a:latin typeface="Segoe UI"/>
              </a:defRPr>
            </a:pPr>
            <a:r>
              <a:t>DocStudio • Cloud-Powered PDF &amp; Document Engineering Suite • College Presentation</a:t>
            </a:r>
          </a:p>
        </p:txBody>
      </p:sp>
      <p:sp>
        <p:nvSpPr>
          <p:cNvPr id="6" name="Rounded Rectangle 5"/>
          <p:cNvSpPr/>
          <p:nvPr/>
        </p:nvSpPr>
        <p:spPr>
          <a:xfrm>
            <a:off x="731520" y="1645920"/>
            <a:ext cx="26060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Document Assembly</a:t>
            </a:r>
          </a:p>
          <a:p>
            <a:br/>
            <a:pPr>
              <a:defRPr sz="1150">
                <a:solidFill>
                  <a:srgbClr val="64748B"/>
                </a:solidFill>
              </a:defRPr>
            </a:pPr>
            <a:r>
              <a:t>• Merge PDFs (drag-and-drop order)</a:t>
            </a:r>
            <a:br/>
            <a:r>
              <a:t>• Split by page ranges or equal parts</a:t>
            </a:r>
            <a:br/>
            <a:r>
              <a:t>• Alternate &amp; Mix multi-source pages</a:t>
            </a:r>
            <a:br/>
            <a:r>
              <a:t>• Rotate pages by 90°, 180°, 270°</a:t>
            </a:r>
          </a:p>
        </p:txBody>
      </p:sp>
      <p:sp>
        <p:nvSpPr>
          <p:cNvPr id="7" name="Rounded Rectangle 6"/>
          <p:cNvSpPr/>
          <p:nvPr/>
        </p:nvSpPr>
        <p:spPr>
          <a:xfrm>
            <a:off x="731520" y="1645920"/>
            <a:ext cx="2606040" cy="10972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29000" y="1645920"/>
            <a:ext cx="26060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Security &amp; Privacy</a:t>
            </a:r>
          </a:p>
          <a:p>
            <a:br/>
            <a:pPr>
              <a:defRPr sz="1150">
                <a:solidFill>
                  <a:srgbClr val="64748B"/>
                </a:solidFill>
              </a:defRPr>
            </a:pPr>
            <a:r>
              <a:t>• AES-256 Bit Password Encryption</a:t>
            </a:r>
            <a:br/>
            <a:r>
              <a:t>• Unlock &amp; Remove PDF Passwords</a:t>
            </a:r>
            <a:br/>
            <a:r>
              <a:t>• Metadata Scrubber (strip authors/dates)</a:t>
            </a:r>
            <a:br/>
            <a:r>
              <a:t>• Auto-cleaning ephemeral server storage</a:t>
            </a:r>
          </a:p>
        </p:txBody>
      </p:sp>
      <p:sp>
        <p:nvSpPr>
          <p:cNvPr id="9" name="Rounded Rectangle 8"/>
          <p:cNvSpPr/>
          <p:nvPr/>
        </p:nvSpPr>
        <p:spPr>
          <a:xfrm>
            <a:off x="3429000" y="1645920"/>
            <a:ext cx="2606040" cy="10972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126480" y="1645920"/>
            <a:ext cx="26060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Multi-Format Converters</a:t>
            </a:r>
          </a:p>
          <a:p>
            <a:br/>
            <a:pPr>
              <a:defRPr sz="1150">
                <a:solidFill>
                  <a:srgbClr val="64748B"/>
                </a:solidFill>
              </a:defRPr>
            </a:pPr>
            <a:r>
              <a:t>• Image to PDF (JPG, PNG, WebP)</a:t>
            </a:r>
            <a:br/>
            <a:r>
              <a:t>• PDF to High-Res Images</a:t>
            </a:r>
            <a:br/>
            <a:r>
              <a:t>• Word (.docx) to PDF Generator</a:t>
            </a:r>
            <a:br/>
            <a:r>
              <a:t>• Excel (.xlsx) Table to PDF Exporter</a:t>
            </a:r>
          </a:p>
        </p:txBody>
      </p:sp>
      <p:sp>
        <p:nvSpPr>
          <p:cNvPr id="11" name="Rounded Rectangle 10"/>
          <p:cNvSpPr/>
          <p:nvPr/>
        </p:nvSpPr>
        <p:spPr>
          <a:xfrm>
            <a:off x="6126480" y="1645920"/>
            <a:ext cx="2606040" cy="10972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823960" y="1645920"/>
            <a:ext cx="26060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PPT Studio Generator</a:t>
            </a:r>
          </a:p>
          <a:p>
            <a:br/>
            <a:pPr>
              <a:defRPr sz="1150">
                <a:solidFill>
                  <a:srgbClr val="64748B"/>
                </a:solidFill>
              </a:defRPr>
            </a:pPr>
            <a:r>
              <a:t>• Interactive Slide Deck Designer</a:t>
            </a:r>
            <a:br/>
            <a:r>
              <a:t>• Multi-theme support (Modern Blue, Slate)</a:t>
            </a:r>
            <a:br/>
            <a:r>
              <a:t>• Structured Slide Bullet Synthesizer</a:t>
            </a:r>
            <a:br/>
            <a:r>
              <a:t>• Instant Export to native .pptx files</a:t>
            </a:r>
          </a:p>
        </p:txBody>
      </p:sp>
      <p:sp>
        <p:nvSpPr>
          <p:cNvPr id="13" name="Rounded Rectangle 12"/>
          <p:cNvSpPr/>
          <p:nvPr/>
        </p:nvSpPr>
        <p:spPr>
          <a:xfrm>
            <a:off x="8823960" y="1645920"/>
            <a:ext cx="2606040" cy="10972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10B981"/>
                </a:solidFill>
                <a:latin typeface="Segoe UI"/>
              </a:defRPr>
            </a:pPr>
            <a:r>
              <a:t>07. IMPLEMENTATION DETAILS</a:t>
            </a:r>
          </a:p>
        </p:txBody>
      </p:sp>
      <p:sp>
        <p:nvSpPr>
          <p:cNvPr id="4" name="TextBox 3"/>
          <p:cNvSpPr txBox="1"/>
          <p:nvPr/>
        </p:nvSpPr>
        <p:spPr>
          <a:xfrm>
            <a:off x="731520" y="640080"/>
            <a:ext cx="10515600" cy="640080"/>
          </a:xfrm>
          <a:prstGeom prst="rect">
            <a:avLst/>
          </a:prstGeom>
          <a:noFill/>
        </p:spPr>
        <p:txBody>
          <a:bodyPr wrap="square">
            <a:spAutoFit/>
          </a:bodyPr>
          <a:lstStyle/>
          <a:p>
            <a:pPr>
              <a:defRPr sz="2600" b="1">
                <a:solidFill>
                  <a:srgbClr val="0F172A"/>
                </a:solidFill>
                <a:latin typeface="Segoe UI"/>
              </a:defRPr>
            </a:pPr>
            <a:r>
              <a:t>Technology Stack &amp; Technical Implementation</a:t>
            </a:r>
          </a:p>
        </p:txBody>
      </p:sp>
      <p:sp>
        <p:nvSpPr>
          <p:cNvPr id="5" name="TextBox 4"/>
          <p:cNvSpPr txBox="1"/>
          <p:nvPr/>
        </p:nvSpPr>
        <p:spPr>
          <a:xfrm>
            <a:off x="731520" y="6400800"/>
            <a:ext cx="10698480" cy="320040"/>
          </a:xfrm>
          <a:prstGeom prst="rect">
            <a:avLst/>
          </a:prstGeom>
          <a:noFill/>
        </p:spPr>
        <p:txBody>
          <a:bodyPr wrap="none">
            <a:spAutoFit/>
          </a:bodyPr>
          <a:lstStyle/>
          <a:p>
            <a:pPr>
              <a:defRPr sz="1000">
                <a:solidFill>
                  <a:srgbClr val="64748B"/>
                </a:solidFill>
                <a:latin typeface="Segoe UI"/>
              </a:defRPr>
            </a:pPr>
            <a:r>
              <a:t>DocStudio • Cloud-Powered PDF &amp; Document Engineering Suite • College Presentation</a:t>
            </a:r>
          </a:p>
        </p:txBody>
      </p:sp>
      <p:graphicFrame>
        <p:nvGraphicFramePr>
          <p:cNvPr id="6" name="Table 5"/>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286000"/>
                <a:gridCol w="3200400"/>
                <a:gridCol w="5212080"/>
              </a:tblGrid>
              <a:tr h="487680">
                <a:tc>
                  <a:txBody>
                    <a:bodyPr/>
                    <a:lstStyle/>
                    <a:p>
                      <a:pPr>
                        <a:defRPr b="1" sz="1300">
                          <a:solidFill>
                            <a:srgbClr val="FFFFFF"/>
                          </a:solidFill>
                          <a:latin typeface="Segoe UI"/>
                        </a:defRPr>
                      </a:pPr>
                      <a:r>
                        <a:t>Component</a:t>
                      </a:r>
                    </a:p>
                  </a:txBody>
                  <a:tcPr anchor="ctr">
                    <a:solidFill>
                      <a:srgbClr val="0F172A"/>
                    </a:solidFill>
                  </a:tcPr>
                </a:tc>
                <a:tc>
                  <a:txBody>
                    <a:bodyPr/>
                    <a:lstStyle/>
                    <a:p>
                      <a:pPr>
                        <a:defRPr b="1" sz="1300">
                          <a:solidFill>
                            <a:srgbClr val="FFFFFF"/>
                          </a:solidFill>
                          <a:latin typeface="Segoe UI"/>
                        </a:defRPr>
                      </a:pPr>
                      <a:r>
                        <a:t>Technology / Library</a:t>
                      </a:r>
                    </a:p>
                  </a:txBody>
                  <a:tcPr anchor="ctr">
                    <a:solidFill>
                      <a:srgbClr val="0F172A"/>
                    </a:solidFill>
                  </a:tcPr>
                </a:tc>
                <a:tc>
                  <a:txBody>
                    <a:bodyPr/>
                    <a:lstStyle/>
                    <a:p>
                      <a:pPr>
                        <a:defRPr b="1" sz="1300">
                          <a:solidFill>
                            <a:srgbClr val="FFFFFF"/>
                          </a:solidFill>
                          <a:latin typeface="Segoe UI"/>
                        </a:defRPr>
                      </a:pPr>
                      <a:r>
                        <a:t>Engineering Purpose</a:t>
                      </a:r>
                    </a:p>
                  </a:txBody>
                  <a:tcPr anchor="ctr">
                    <a:solidFill>
                      <a:srgbClr val="0F172A"/>
                    </a:solidFill>
                  </a:tcPr>
                </a:tc>
              </a:tr>
              <a:tr h="487680">
                <a:tc>
                  <a:txBody>
                    <a:bodyPr/>
                    <a:lstStyle/>
                    <a:p>
                      <a:pPr>
                        <a:defRPr sz="1100">
                          <a:solidFill>
                            <a:srgbClr val="0F172A"/>
                          </a:solidFill>
                          <a:latin typeface="Segoe UI"/>
                        </a:defRPr>
                      </a:pPr>
                      <a:r>
                        <a:t>Backend Framework</a:t>
                      </a:r>
                    </a:p>
                  </a:txBody>
                  <a:tcPr anchor="ctr">
                    <a:solidFill>
                      <a:srgbClr val="F1F5F9"/>
                    </a:solidFill>
                  </a:tcPr>
                </a:tc>
                <a:tc>
                  <a:txBody>
                    <a:bodyPr/>
                    <a:lstStyle/>
                    <a:p>
                      <a:pPr>
                        <a:defRPr sz="1100" b="1">
                          <a:solidFill>
                            <a:srgbClr val="4F46E5"/>
                          </a:solidFill>
                          <a:latin typeface="Segoe UI"/>
                        </a:defRPr>
                      </a:pPr>
                      <a:r>
                        <a:t>Python 3.13 + FastAPI</a:t>
                      </a:r>
                    </a:p>
                  </a:txBody>
                  <a:tcPr anchor="ctr">
                    <a:solidFill>
                      <a:srgbClr val="F1F5F9"/>
                    </a:solidFill>
                  </a:tcPr>
                </a:tc>
                <a:tc>
                  <a:txBody>
                    <a:bodyPr/>
                    <a:lstStyle/>
                    <a:p>
                      <a:pPr>
                        <a:defRPr sz="1100">
                          <a:solidFill>
                            <a:srgbClr val="64748B"/>
                          </a:solidFill>
                          <a:latin typeface="Segoe UI"/>
                        </a:defRPr>
                      </a:pPr>
                      <a:r>
                        <a:t>High-concurrency ASGI web framework with async endpoints</a:t>
                      </a:r>
                    </a:p>
                  </a:txBody>
                  <a:tcPr anchor="ctr">
                    <a:solidFill>
                      <a:srgbClr val="F1F5F9"/>
                    </a:solidFill>
                  </a:tcPr>
                </a:tc>
              </a:tr>
              <a:tr h="487680">
                <a:tc>
                  <a:txBody>
                    <a:bodyPr/>
                    <a:lstStyle/>
                    <a:p>
                      <a:pPr>
                        <a:defRPr sz="1100">
                          <a:solidFill>
                            <a:srgbClr val="0F172A"/>
                          </a:solidFill>
                          <a:latin typeface="Segoe UI"/>
                        </a:defRPr>
                      </a:pPr>
                      <a:r>
                        <a:t>PDF Engine</a:t>
                      </a:r>
                    </a:p>
                  </a:txBody>
                  <a:tcPr anchor="ctr">
                    <a:solidFill>
                      <a:srgbClr val="FFFFFF"/>
                    </a:solidFill>
                  </a:tcPr>
                </a:tc>
                <a:tc>
                  <a:txBody>
                    <a:bodyPr/>
                    <a:lstStyle/>
                    <a:p>
                      <a:pPr>
                        <a:defRPr sz="1100" b="1">
                          <a:solidFill>
                            <a:srgbClr val="4F46E5"/>
                          </a:solidFill>
                          <a:latin typeface="Segoe UI"/>
                        </a:defRPr>
                      </a:pPr>
                      <a:r>
                        <a:t>PyMuPDF (Fitz 1.24+)</a:t>
                      </a:r>
                    </a:p>
                  </a:txBody>
                  <a:tcPr anchor="ctr">
                    <a:solidFill>
                      <a:srgbClr val="FFFFFF"/>
                    </a:solidFill>
                  </a:tcPr>
                </a:tc>
                <a:tc>
                  <a:txBody>
                    <a:bodyPr/>
                    <a:lstStyle/>
                    <a:p>
                      <a:pPr>
                        <a:defRPr sz="1100">
                          <a:solidFill>
                            <a:srgbClr val="64748B"/>
                          </a:solidFill>
                          <a:latin typeface="Segoe UI"/>
                        </a:defRPr>
                      </a:pPr>
                      <a:r>
                        <a:t>Vector clipping, page restructuring, text injection &amp; stream repair</a:t>
                      </a:r>
                    </a:p>
                  </a:txBody>
                  <a:tcPr anchor="ctr">
                    <a:solidFill>
                      <a:srgbClr val="FFFFFF"/>
                    </a:solidFill>
                  </a:tcPr>
                </a:tc>
              </a:tr>
              <a:tr h="487680">
                <a:tc>
                  <a:txBody>
                    <a:bodyPr/>
                    <a:lstStyle/>
                    <a:p>
                      <a:pPr>
                        <a:defRPr sz="1100">
                          <a:solidFill>
                            <a:srgbClr val="0F172A"/>
                          </a:solidFill>
                          <a:latin typeface="Segoe UI"/>
                        </a:defRPr>
                      </a:pPr>
                      <a:r>
                        <a:t>Image &amp; Format Engine</a:t>
                      </a:r>
                    </a:p>
                  </a:txBody>
                  <a:tcPr anchor="ctr">
                    <a:solidFill>
                      <a:srgbClr val="F1F5F9"/>
                    </a:solidFill>
                  </a:tcPr>
                </a:tc>
                <a:tc>
                  <a:txBody>
                    <a:bodyPr/>
                    <a:lstStyle/>
                    <a:p>
                      <a:pPr>
                        <a:defRPr sz="1100" b="1">
                          <a:solidFill>
                            <a:srgbClr val="4F46E5"/>
                          </a:solidFill>
                          <a:latin typeface="Segoe UI"/>
                        </a:defRPr>
                      </a:pPr>
                      <a:r>
                        <a:t>Pillow (PIL) + ReportLab</a:t>
                      </a:r>
                    </a:p>
                  </a:txBody>
                  <a:tcPr anchor="ctr">
                    <a:solidFill>
                      <a:srgbClr val="F1F5F9"/>
                    </a:solidFill>
                  </a:tcPr>
                </a:tc>
                <a:tc>
                  <a:txBody>
                    <a:bodyPr/>
                    <a:lstStyle/>
                    <a:p>
                      <a:pPr>
                        <a:defRPr sz="1100">
                          <a:solidFill>
                            <a:srgbClr val="64748B"/>
                          </a:solidFill>
                          <a:latin typeface="Segoe UI"/>
                        </a:defRPr>
                      </a:pPr>
                      <a:r>
                        <a:t>Dynamic DPI downsampling, color space correction &amp; PDF generation</a:t>
                      </a:r>
                    </a:p>
                  </a:txBody>
                  <a:tcPr anchor="ctr">
                    <a:solidFill>
                      <a:srgbClr val="F1F5F9"/>
                    </a:solidFill>
                  </a:tcPr>
                </a:tc>
              </a:tr>
              <a:tr h="487680">
                <a:tc>
                  <a:txBody>
                    <a:bodyPr/>
                    <a:lstStyle/>
                    <a:p>
                      <a:pPr>
                        <a:defRPr sz="1100">
                          <a:solidFill>
                            <a:srgbClr val="0F172A"/>
                          </a:solidFill>
                          <a:latin typeface="Segoe UI"/>
                        </a:defRPr>
                      </a:pPr>
                      <a:r>
                        <a:t>Office Converters</a:t>
                      </a:r>
                    </a:p>
                  </a:txBody>
                  <a:tcPr anchor="ctr">
                    <a:solidFill>
                      <a:srgbClr val="FFFFFF"/>
                    </a:solidFill>
                  </a:tcPr>
                </a:tc>
                <a:tc>
                  <a:txBody>
                    <a:bodyPr/>
                    <a:lstStyle/>
                    <a:p>
                      <a:pPr>
                        <a:defRPr sz="1100" b="1">
                          <a:solidFill>
                            <a:srgbClr val="4F46E5"/>
                          </a:solidFill>
                          <a:latin typeface="Segoe UI"/>
                        </a:defRPr>
                      </a:pPr>
                      <a:r>
                        <a:t>python-pptx, docx, openpyxl</a:t>
                      </a:r>
                    </a:p>
                  </a:txBody>
                  <a:tcPr anchor="ctr">
                    <a:solidFill>
                      <a:srgbClr val="FFFFFF"/>
                    </a:solidFill>
                  </a:tcPr>
                </a:tc>
                <a:tc>
                  <a:txBody>
                    <a:bodyPr/>
                    <a:lstStyle/>
                    <a:p>
                      <a:pPr>
                        <a:defRPr sz="1100">
                          <a:solidFill>
                            <a:srgbClr val="64748B"/>
                          </a:solidFill>
                          <a:latin typeface="Segoe UI"/>
                        </a:defRPr>
                      </a:pPr>
                      <a:r>
                        <a:t>Binary format parsing and automated PowerPoint/Word/Excel synthesis</a:t>
                      </a:r>
                    </a:p>
                  </a:txBody>
                  <a:tcPr anchor="ctr">
                    <a:solidFill>
                      <a:srgbClr val="FFFFFF"/>
                    </a:solidFill>
                  </a:tcPr>
                </a:tc>
              </a:tr>
              <a:tr h="487680">
                <a:tc>
                  <a:txBody>
                    <a:bodyPr/>
                    <a:lstStyle/>
                    <a:p>
                      <a:pPr>
                        <a:defRPr sz="1100">
                          <a:solidFill>
                            <a:srgbClr val="0F172A"/>
                          </a:solidFill>
                          <a:latin typeface="Segoe UI"/>
                        </a:defRPr>
                      </a:pPr>
                      <a:r>
                        <a:t>Frontend UI</a:t>
                      </a:r>
                    </a:p>
                  </a:txBody>
                  <a:tcPr anchor="ctr">
                    <a:solidFill>
                      <a:srgbClr val="F1F5F9"/>
                    </a:solidFill>
                  </a:tcPr>
                </a:tc>
                <a:tc>
                  <a:txBody>
                    <a:bodyPr/>
                    <a:lstStyle/>
                    <a:p>
                      <a:pPr>
                        <a:defRPr sz="1100" b="1">
                          <a:solidFill>
                            <a:srgbClr val="4F46E5"/>
                          </a:solidFill>
                          <a:latin typeface="Segoe UI"/>
                        </a:defRPr>
                      </a:pPr>
                      <a:r>
                        <a:t>HTML5, Tailwind CSS, JS (ES6+)</a:t>
                      </a:r>
                    </a:p>
                  </a:txBody>
                  <a:tcPr anchor="ctr">
                    <a:solidFill>
                      <a:srgbClr val="F1F5F9"/>
                    </a:solidFill>
                  </a:tcPr>
                </a:tc>
                <a:tc>
                  <a:txBody>
                    <a:bodyPr/>
                    <a:lstStyle/>
                    <a:p>
                      <a:pPr>
                        <a:defRPr sz="1100">
                          <a:solidFill>
                            <a:srgbClr val="64748B"/>
                          </a:solidFill>
                          <a:latin typeface="Segoe UI"/>
                        </a:defRPr>
                      </a:pPr>
                      <a:r>
                        <a:t>Modern responsive SPA interface with zero external framework bloat</a:t>
                      </a:r>
                    </a:p>
                  </a:txBody>
                  <a:tcPr anchor="ctr">
                    <a:solidFill>
                      <a:srgbClr val="F1F5F9"/>
                    </a:solidFill>
                  </a:tcPr>
                </a:tc>
              </a:tr>
              <a:tr h="487680">
                <a:tc>
                  <a:txBody>
                    <a:bodyPr/>
                    <a:lstStyle/>
                    <a:p>
                      <a:pPr>
                        <a:defRPr sz="1100">
                          <a:solidFill>
                            <a:srgbClr val="0F172A"/>
                          </a:solidFill>
                          <a:latin typeface="Segoe UI"/>
                        </a:defRPr>
                      </a:pPr>
                      <a:r>
                        <a:t>Client PDF Renderer</a:t>
                      </a:r>
                    </a:p>
                  </a:txBody>
                  <a:tcPr anchor="ctr">
                    <a:solidFill>
                      <a:srgbClr val="FFFFFF"/>
                    </a:solidFill>
                  </a:tcPr>
                </a:tc>
                <a:tc>
                  <a:txBody>
                    <a:bodyPr/>
                    <a:lstStyle/>
                    <a:p>
                      <a:pPr>
                        <a:defRPr sz="1100" b="1">
                          <a:solidFill>
                            <a:srgbClr val="4F46E5"/>
                          </a:solidFill>
                          <a:latin typeface="Segoe UI"/>
                        </a:defRPr>
                      </a:pPr>
                      <a:r>
                        <a:t>Mozilla PDF.js 3.11</a:t>
                      </a:r>
                    </a:p>
                  </a:txBody>
                  <a:tcPr anchor="ctr">
                    <a:solidFill>
                      <a:srgbClr val="FFFFFF"/>
                    </a:solidFill>
                  </a:tcPr>
                </a:tc>
                <a:tc>
                  <a:txBody>
                    <a:bodyPr/>
                    <a:lstStyle/>
                    <a:p>
                      <a:pPr>
                        <a:defRPr sz="1100">
                          <a:solidFill>
                            <a:srgbClr val="64748B"/>
                          </a:solidFill>
                          <a:latin typeface="Segoe UI"/>
                        </a:defRPr>
                      </a:pPr>
                      <a:r>
                        <a:t>Client-side vector rendering of PDF pages onto HTML5 canvas</a:t>
                      </a:r>
                    </a:p>
                  </a:txBody>
                  <a:tcPr anchor="ctr">
                    <a:solidFill>
                      <a:srgbClr val="FFFFFF"/>
                    </a:solidFill>
                  </a:tcPr>
                </a:tc>
              </a:tr>
              <a:tr h="487680">
                <a:tc>
                  <a:txBody>
                    <a:bodyPr/>
                    <a:lstStyle/>
                    <a:p>
                      <a:pPr>
                        <a:defRPr sz="1100">
                          <a:solidFill>
                            <a:srgbClr val="0F172A"/>
                          </a:solidFill>
                          <a:latin typeface="Segoe UI"/>
                        </a:defRPr>
                      </a:pPr>
                      <a:r>
                        <a:t>Database &amp; Auth</a:t>
                      </a:r>
                    </a:p>
                  </a:txBody>
                  <a:tcPr anchor="ctr">
                    <a:solidFill>
                      <a:srgbClr val="F1F5F9"/>
                    </a:solidFill>
                  </a:tcPr>
                </a:tc>
                <a:tc>
                  <a:txBody>
                    <a:bodyPr/>
                    <a:lstStyle/>
                    <a:p>
                      <a:pPr>
                        <a:defRPr sz="1100" b="1">
                          <a:solidFill>
                            <a:srgbClr val="4F46E5"/>
                          </a:solidFill>
                          <a:latin typeface="Segoe UI"/>
                        </a:defRPr>
                      </a:pPr>
                      <a:r>
                        <a:t>SQLite3 + PBKDF2 Hashing</a:t>
                      </a:r>
                    </a:p>
                  </a:txBody>
                  <a:tcPr anchor="ctr">
                    <a:solidFill>
                      <a:srgbClr val="F1F5F9"/>
                    </a:solidFill>
                  </a:tcPr>
                </a:tc>
                <a:tc>
                  <a:txBody>
                    <a:bodyPr/>
                    <a:lstStyle/>
                    <a:p>
                      <a:pPr>
                        <a:defRPr sz="1100">
                          <a:solidFill>
                            <a:srgbClr val="64748B"/>
                          </a:solidFill>
                          <a:latin typeface="Segoe UI"/>
                        </a:defRPr>
                      </a:pPr>
                      <a:r>
                        <a:t>Lightweight, zero-config relational store for sessions and history</a:t>
                      </a:r>
                    </a:p>
                  </a:txBody>
                  <a:tcPr anchor="ctr">
                    <a:solidFill>
                      <a:srgbClr val="F1F5F9"/>
                    </a:solidFill>
                  </a:tcPr>
                </a:tc>
              </a:tr>
              <a:tr h="487680">
                <a:tc>
                  <a:txBody>
                    <a:bodyPr/>
                    <a:lstStyle/>
                    <a:p>
                      <a:pPr>
                        <a:defRPr sz="1100">
                          <a:solidFill>
                            <a:srgbClr val="0F172A"/>
                          </a:solidFill>
                          <a:latin typeface="Segoe UI"/>
                        </a:defRPr>
                      </a:pPr>
                      <a:r>
                        <a:t>Cloud &amp; Deployment</a:t>
                      </a:r>
                    </a:p>
                  </a:txBody>
                  <a:tcPr anchor="ctr">
                    <a:solidFill>
                      <a:srgbClr val="FFFFFF"/>
                    </a:solidFill>
                  </a:tcPr>
                </a:tc>
                <a:tc>
                  <a:txBody>
                    <a:bodyPr/>
                    <a:lstStyle/>
                    <a:p>
                      <a:pPr>
                        <a:defRPr sz="1100" b="1">
                          <a:solidFill>
                            <a:srgbClr val="4F46E5"/>
                          </a:solidFill>
                          <a:latin typeface="Segoe UI"/>
                        </a:defRPr>
                      </a:pPr>
                      <a:r>
                        <a:t>Git + Render PaaS + Cloudflare</a:t>
                      </a:r>
                    </a:p>
                  </a:txBody>
                  <a:tcPr anchor="ctr">
                    <a:solidFill>
                      <a:srgbClr val="FFFFFF"/>
                    </a:solidFill>
                  </a:tcPr>
                </a:tc>
                <a:tc>
                  <a:txBody>
                    <a:bodyPr/>
                    <a:lstStyle/>
                    <a:p>
                      <a:pPr>
                        <a:defRPr sz="1100">
                          <a:solidFill>
                            <a:srgbClr val="64748B"/>
                          </a:solidFill>
                          <a:latin typeface="Segoe UI"/>
                        </a:defRPr>
                      </a:pPr>
                      <a:r>
                        <a:t>Automated GitHub CI/CD, SSL encryption &amp; cloud serverless hosting</a:t>
                      </a:r>
                    </a:p>
                  </a:txBody>
                  <a:tcPr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10B981"/>
                </a:solidFill>
                <a:latin typeface="Segoe UI"/>
              </a:defRPr>
            </a:pPr>
            <a:r>
              <a:t>08. RESULTS &amp; VALIDATION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600" b="1">
                <a:solidFill>
                  <a:srgbClr val="0F172A"/>
                </a:solidFill>
                <a:latin typeface="Segoe UI"/>
              </a:defRPr>
            </a:pPr>
            <a:r>
              <a:t>Live Deployment, Performance Metrics &amp; SEO</a:t>
            </a:r>
          </a:p>
        </p:txBody>
      </p:sp>
      <p:sp>
        <p:nvSpPr>
          <p:cNvPr id="5" name="TextBox 4"/>
          <p:cNvSpPr txBox="1"/>
          <p:nvPr/>
        </p:nvSpPr>
        <p:spPr>
          <a:xfrm>
            <a:off x="731520" y="6400800"/>
            <a:ext cx="10698480" cy="320040"/>
          </a:xfrm>
          <a:prstGeom prst="rect">
            <a:avLst/>
          </a:prstGeom>
          <a:noFill/>
        </p:spPr>
        <p:txBody>
          <a:bodyPr wrap="none">
            <a:spAutoFit/>
          </a:bodyPr>
          <a:lstStyle/>
          <a:p>
            <a:pPr>
              <a:defRPr sz="1000">
                <a:solidFill>
                  <a:srgbClr val="64748B"/>
                </a:solidFill>
                <a:latin typeface="Segoe UI"/>
              </a:defRPr>
            </a:pPr>
            <a:r>
              <a:t>DocStudio • Cloud-Powered PDF &amp; Document Engineering Suite • College Presentation</a:t>
            </a:r>
          </a:p>
        </p:txBody>
      </p:sp>
      <p:sp>
        <p:nvSpPr>
          <p:cNvPr id="6" name="Rounded Rectangle 5"/>
          <p:cNvSpPr/>
          <p:nvPr/>
        </p:nvSpPr>
        <p:spPr>
          <a:xfrm>
            <a:off x="731520" y="1645920"/>
            <a:ext cx="260604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0B981"/>
                </a:solidFill>
              </a:defRPr>
            </a:pPr>
            <a:r>
              <a:t>&lt; 350 ms</a:t>
            </a:r>
          </a:p>
          <a:p>
            <a:pPr>
              <a:defRPr sz="1300" b="1">
                <a:solidFill>
                  <a:srgbClr val="0F172A"/>
                </a:solidFill>
              </a:defRPr>
            </a:pPr>
            <a:r>
              <a:t>Average API Execution Time</a:t>
            </a:r>
          </a:p>
          <a:p>
            <a:pPr>
              <a:defRPr sz="1050">
                <a:solidFill>
                  <a:srgbClr val="64748B"/>
                </a:solidFill>
              </a:defRPr>
            </a:pPr>
            <a:r>
              <a:t>PyMuPDF C-bindings provide sub-second operations across all tools.</a:t>
            </a:r>
          </a:p>
        </p:txBody>
      </p:sp>
      <p:sp>
        <p:nvSpPr>
          <p:cNvPr id="7" name="Rounded Rectangle 6"/>
          <p:cNvSpPr/>
          <p:nvPr/>
        </p:nvSpPr>
        <p:spPr>
          <a:xfrm>
            <a:off x="3429000" y="1645920"/>
            <a:ext cx="260604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4F46E5"/>
                </a:solidFill>
              </a:defRPr>
            </a:pPr>
            <a:r>
              <a:t>100%</a:t>
            </a:r>
          </a:p>
          <a:p>
            <a:pPr>
              <a:defRPr sz="1300" b="1">
                <a:solidFill>
                  <a:srgbClr val="0F172A"/>
                </a:solidFill>
              </a:defRPr>
            </a:pPr>
            <a:r>
              <a:t>Target KB Accuracy</a:t>
            </a:r>
          </a:p>
          <a:p>
            <a:pPr>
              <a:defRPr sz="1050">
                <a:solidFill>
                  <a:srgbClr val="64748B"/>
                </a:solidFill>
              </a:defRPr>
            </a:pPr>
            <a:r>
              <a:t>Zero-failure compliance with government exam size thresholds (&lt;= 20KB / 50KB).</a:t>
            </a:r>
          </a:p>
        </p:txBody>
      </p:sp>
      <p:sp>
        <p:nvSpPr>
          <p:cNvPr id="8" name="Rounded Rectangle 7"/>
          <p:cNvSpPr/>
          <p:nvPr/>
        </p:nvSpPr>
        <p:spPr>
          <a:xfrm>
            <a:off x="6126480" y="1645920"/>
            <a:ext cx="260604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284C7"/>
                </a:solidFill>
              </a:defRPr>
            </a:pPr>
            <a:r>
              <a:t>24/7 Live</a:t>
            </a:r>
          </a:p>
          <a:p>
            <a:pPr>
              <a:defRPr sz="1300" b="1">
                <a:solidFill>
                  <a:srgbClr val="0F172A"/>
                </a:solidFill>
              </a:defRPr>
            </a:pPr>
            <a:r>
              <a:t>Cloud Deployment on Render</a:t>
            </a:r>
          </a:p>
          <a:p>
            <a:pPr>
              <a:defRPr sz="1050">
                <a:solidFill>
                  <a:srgbClr val="64748B"/>
                </a:solidFill>
              </a:defRPr>
            </a:pPr>
            <a:r>
              <a:t>Global accessibility with automatic CI/CD from GitHub main branch.</a:t>
            </a:r>
          </a:p>
        </p:txBody>
      </p:sp>
      <p:sp>
        <p:nvSpPr>
          <p:cNvPr id="9" name="Rounded Rectangle 8"/>
          <p:cNvSpPr/>
          <p:nvPr/>
        </p:nvSpPr>
        <p:spPr>
          <a:xfrm>
            <a:off x="8823960" y="1645920"/>
            <a:ext cx="260604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D97706"/>
                </a:solidFill>
              </a:defRPr>
            </a:pPr>
            <a:r>
              <a:t>SEO Indexed</a:t>
            </a:r>
          </a:p>
          <a:p>
            <a:pPr>
              <a:defRPr sz="1300" b="1">
                <a:solidFill>
                  <a:srgbClr val="0F172A"/>
                </a:solidFill>
              </a:defRPr>
            </a:pPr>
            <a:r>
              <a:t>Google Search Console Ready</a:t>
            </a:r>
          </a:p>
          <a:p>
            <a:pPr>
              <a:defRPr sz="1050">
                <a:solidFill>
                  <a:srgbClr val="64748B"/>
                </a:solidFill>
              </a:defRPr>
            </a:pPr>
            <a:r>
              <a:t>Integrated JSON-LD schema, sitemap.xml, robots.txt, and meta tags.</a:t>
            </a:r>
          </a:p>
        </p:txBody>
      </p:sp>
      <p:sp>
        <p:nvSpPr>
          <p:cNvPr id="10" name="Rounded Rectangle 9"/>
          <p:cNvSpPr/>
          <p:nvPr/>
        </p:nvSpPr>
        <p:spPr>
          <a:xfrm>
            <a:off x="731520" y="3931920"/>
            <a:ext cx="10698480" cy="2103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0B981"/>
                </a:solidFill>
              </a:defRPr>
            </a:pPr>
            <a:r>
              <a:t>🌐 Live Production Environment Demonstration</a:t>
            </a:r>
          </a:p>
          <a:p>
            <a:br/>
            <a:pPr>
              <a:defRPr sz="1300">
                <a:solidFill>
                  <a:srgbClr val="E2E8F0"/>
                </a:solidFill>
              </a:defRPr>
            </a:pPr>
            <a:r>
              <a:t>• Live Application URL: https://docstudio-dty3.onrender.com/</a:t>
            </a:r>
            <a:br/>
            <a:r>
              <a:t>• Public GitHub Repository: https://github.com/AlokKumarKushwaha/doc-studio</a:t>
            </a:r>
            <a:br/>
            <a:r>
              <a:t>• Google Search Console verified property with daily automatic sitemap crawling enabled</a:t>
            </a:r>
            <a:br/>
            <a:r>
              <a:t>• Verified zero-error operation on mobile browsers (Chrome Android, Safari iOS) and desktop devices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515600" cy="1097280"/>
          </a:xfrm>
          <a:prstGeom prst="rect">
            <a:avLst/>
          </a:prstGeom>
          <a:noFill/>
        </p:spPr>
        <p:txBody>
          <a:bodyPr wrap="square">
            <a:spAutoFit/>
          </a:bodyPr>
          <a:lstStyle/>
          <a:p>
            <a:pPr>
              <a:defRPr sz="1300" b="1">
                <a:solidFill>
                  <a:srgbClr val="10B981"/>
                </a:solidFill>
              </a:defRPr>
            </a:pPr>
            <a:r>
              <a:t>CONCLUSION &amp; FUTURE ROADMAP</a:t>
            </a:r>
          </a:p>
          <a:p>
            <a:pPr>
              <a:defRPr sz="2800" b="1">
                <a:solidFill>
                  <a:srgbClr val="FFFFFF"/>
                </a:solidFill>
              </a:defRPr>
            </a:pPr>
            <a:r>
              <a:t>Empowering Users with Intelligent Document Engineering</a:t>
            </a:r>
          </a:p>
        </p:txBody>
      </p:sp>
      <p:sp>
        <p:nvSpPr>
          <p:cNvPr id="4" name="Rounded Rectangle 3"/>
          <p:cNvSpPr/>
          <p:nvPr/>
        </p:nvSpPr>
        <p:spPr>
          <a:xfrm>
            <a:off x="731520" y="2011680"/>
            <a:ext cx="5120640" cy="40233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defRPr>
            </a:pPr>
            <a:r>
              <a:t>✅ Project Summary &amp; Impact</a:t>
            </a:r>
          </a:p>
          <a:p>
            <a:br/>
            <a:pPr>
              <a:defRPr sz="1300">
                <a:solidFill>
                  <a:srgbClr val="CBD5E1"/>
                </a:solidFill>
              </a:defRPr>
            </a:pPr>
            <a:r>
              <a:t>• Successfully engineered a full-featured, zero-cost alternative to expensive document software.</a:t>
            </a:r>
            <a:br/>
            <a:br/>
            <a:r>
              <a:t>• Solved the government exam upload challenge through AI prompt parsing and deterministic compression.</a:t>
            </a:r>
            <a:br/>
            <a:br/>
            <a:r>
              <a:t>• Built an interactive in-browser PDF editor capable of dynamic page insertion and font synthesis.</a:t>
            </a:r>
            <a:br/>
            <a:br/>
            <a:r>
              <a:t>• Deployed live with enterprise-grade security and guest-friendly usability.</a:t>
            </a:r>
          </a:p>
        </p:txBody>
      </p:sp>
      <p:sp>
        <p:nvSpPr>
          <p:cNvPr id="5" name="Rounded Rectangle 4"/>
          <p:cNvSpPr/>
          <p:nvPr/>
        </p:nvSpPr>
        <p:spPr>
          <a:xfrm>
            <a:off x="6217920" y="2011680"/>
            <a:ext cx="5212080" cy="40233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4F46E5"/>
                </a:solidFill>
              </a:defRPr>
            </a:pPr>
            <a:r>
              <a:t>🔮 Future Roadmap &amp; Enhancements</a:t>
            </a:r>
          </a:p>
          <a:p>
            <a:br/>
            <a:pPr>
              <a:defRPr sz="1300">
                <a:solidFill>
                  <a:srgbClr val="CBD5E1"/>
                </a:solidFill>
              </a:defRPr>
            </a:pPr>
            <a:r>
              <a:t>• Multilingual OCR Engine: Integration with Tesseract OCR for searchable Hindi/Regional language document scanning.</a:t>
            </a:r>
            <a:br/>
            <a:br/>
            <a:r>
              <a:t>• Real-Time Collaborative PDF Annotation: WebSocket-powered multi-user markup and reviewing.</a:t>
            </a:r>
            <a:br/>
            <a:br/>
            <a:r>
              <a:t>• Cloud Drive Synchronization: Native integration with Google Drive, OneDrive, and Dropbox.</a:t>
            </a:r>
            <a:br/>
            <a:br/>
            <a:r>
              <a:t>• AI Document Summarizer: LLM-powered instant question-answering over large PDF documents.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